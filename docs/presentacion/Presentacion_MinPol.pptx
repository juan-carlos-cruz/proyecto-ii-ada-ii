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73AA7C-8D13-468E-8B00-7E3DF35FD5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13CD3D-AB31-4DD3-B34C-E8376C136C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68902B5-2279-4D25-8793-FE938BB0054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24800" y="6537600"/>
            <a:ext cx="324000" cy="2581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01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92000" y="6537600"/>
            <a:ext cx="4320000" cy="2581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Juan Carlos Cruz Muñoz  ·  0:00–0:25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4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684000" y="6598800"/>
            <a:ext cx="504000" cy="216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75200" y="450000"/>
            <a:ext cx="5040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2b5f7a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18400" y="487800"/>
            <a:ext cx="4953600" cy="2386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SUSTENTACIÓN · ANÁLISIS DE ALGORITMOS II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50000" y="990000"/>
            <a:ext cx="7380000" cy="1575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44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Minimizar la</a:t>
            </a:r>
            <a:endParaRPr lang="en-US" sz="44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44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polarización</a:t>
            </a:r>
            <a:endParaRPr lang="en-US" sz="44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75200" y="2394000"/>
            <a:ext cx="7020000" cy="7765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1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Un modelo entero lineal para decidir movimientos</a:t>
            </a:r>
            <a:endParaRPr lang="en-US" sz="21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  <a:p>
            <a:r>
              <a:rPr lang="en-US" sz="21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bajo presupuesto y distancia limitada</a:t>
            </a:r>
            <a:endParaRPr lang="en-US" sz="21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0" name=""/>
          <p:cNvSpPr/>
          <p:nvPr/>
        </p:nvSpPr>
        <p:spPr>
          <a:xfrm>
            <a:off x="8460000" y="864000"/>
            <a:ext cx="2844000" cy="309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8784000" y="1152000"/>
            <a:ext cx="2160000" cy="6375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34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MinPol</a:t>
            </a:r>
            <a:endParaRPr lang="en-US" sz="34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8712000" y="1818000"/>
            <a:ext cx="2448000" cy="4485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3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min</a:t>
            </a:r>
            <a:endParaRPr lang="en-US" sz="23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8640000" y="2232000"/>
            <a:ext cx="2484000" cy="396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0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Σ yᵢ |vᵢ − med(y)|</a:t>
            </a:r>
            <a:endParaRPr lang="en-US" sz="20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802000" y="3024000"/>
            <a:ext cx="2160000" cy="6418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7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ct  ·  maxM  ·  población</a:t>
            </a:r>
            <a:endParaRPr lang="en-US" sz="17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50000" y="3636000"/>
            <a:ext cx="1620000" cy="274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INTEGRANTES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6" name=""/>
          <p:cNvSpPr/>
          <p:nvPr/>
        </p:nvSpPr>
        <p:spPr>
          <a:xfrm>
            <a:off x="450000" y="3888000"/>
            <a:ext cx="5310000" cy="32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50000" y="3888000"/>
            <a:ext cx="39600" cy="3240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558000" y="3956400"/>
            <a:ext cx="5076000" cy="2386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r>
              <a:rPr lang="en-US" sz="13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Juan Carlos Cruz Muñoz  ·  1824389</a:t>
            </a:r>
            <a:endParaRPr lang="en-US" sz="13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9" name=""/>
          <p:cNvSpPr/>
          <p:nvPr/>
        </p:nvSpPr>
        <p:spPr>
          <a:xfrm>
            <a:off x="6048000" y="3888000"/>
            <a:ext cx="5310000" cy="32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048000" y="3888000"/>
            <a:ext cx="39600" cy="324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156000" y="3956400"/>
            <a:ext cx="5076000" cy="2386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r>
              <a:rPr lang="en-US" sz="13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David Alejandro Enciso Gutierrez  ·  2240581</a:t>
            </a:r>
            <a:endParaRPr lang="en-US" sz="13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2" name=""/>
          <p:cNvSpPr/>
          <p:nvPr/>
        </p:nvSpPr>
        <p:spPr>
          <a:xfrm>
            <a:off x="450000" y="4302000"/>
            <a:ext cx="5310000" cy="32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450000" y="4302000"/>
            <a:ext cx="39600" cy="3240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58000" y="4370400"/>
            <a:ext cx="5076000" cy="2386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r>
              <a:rPr lang="en-US" sz="13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Juan Esteban Rodriguez Valencia  ·  2042282</a:t>
            </a:r>
            <a:endParaRPr lang="en-US" sz="13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5" name=""/>
          <p:cNvSpPr/>
          <p:nvPr/>
        </p:nvSpPr>
        <p:spPr>
          <a:xfrm>
            <a:off x="6048000" y="4302000"/>
            <a:ext cx="5310000" cy="32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048000" y="4302000"/>
            <a:ext cx="39600" cy="324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156000" y="4370400"/>
            <a:ext cx="5076000" cy="23868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r>
              <a:rPr lang="en-US" sz="13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Estiven Andres Martinez Granados  ·  2179687</a:t>
            </a:r>
            <a:endParaRPr lang="en-US" sz="13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50000" y="5112000"/>
            <a:ext cx="6480000" cy="2930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4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Universidad del Valle · Julio de 2026</a:t>
            </a:r>
            <a:endParaRPr lang="en-US" sz="14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02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Juan Carlos Cruz Muñoz  ·  0:25–0:55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4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9684000" y="6598800"/>
            <a:ext cx="504000" cy="216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1 · PARÁMETROS Y VARIABLES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¿Qué problema resolvemos?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Mover personas solo cuando mejora la distribución y sigue siendo factible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9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50000" y="1692000"/>
            <a:ext cx="2520000" cy="129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76000" y="18180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01</a:t>
            </a:r>
            <a:endParaRPr lang="en-US" sz="16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76000" y="2106000"/>
            <a:ext cx="2250000" cy="4136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1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Estado inicial</a:t>
            </a:r>
            <a:endParaRPr lang="en-US" sz="21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76000" y="2448000"/>
            <a:ext cx="2250000" cy="6022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p = personas por opinión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4" name=""/>
          <p:cNvSpPr/>
          <p:nvPr/>
        </p:nvSpPr>
        <p:spPr>
          <a:xfrm>
            <a:off x="2988000" y="2340000"/>
            <a:ext cx="306000" cy="0"/>
          </a:xfrm>
          <a:prstGeom prst="line">
            <a:avLst/>
          </a:prstGeom>
          <a:ln w="32400">
            <a:solidFill>
              <a:srgbClr val="2b5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3312000" y="1692000"/>
            <a:ext cx="2520000" cy="129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438000" y="18180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02</a:t>
            </a:r>
            <a:endParaRPr lang="en-US" sz="16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438000" y="2106000"/>
            <a:ext cx="2250000" cy="4136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1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Decisión</a:t>
            </a:r>
            <a:endParaRPr lang="en-US" sz="21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438000" y="2448000"/>
            <a:ext cx="225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xᵢⱼ = personas de i a j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9" name=""/>
          <p:cNvSpPr/>
          <p:nvPr/>
        </p:nvSpPr>
        <p:spPr>
          <a:xfrm>
            <a:off x="5850000" y="2340000"/>
            <a:ext cx="306000" cy="0"/>
          </a:xfrm>
          <a:prstGeom prst="line">
            <a:avLst/>
          </a:prstGeom>
          <a:ln w="32400">
            <a:solidFill>
              <a:srgbClr val="856a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174000" y="1692000"/>
            <a:ext cx="2520000" cy="129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300000" y="18180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03</a:t>
            </a:r>
            <a:endParaRPr lang="en-US" sz="16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300000" y="2106000"/>
            <a:ext cx="2250000" cy="4136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1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Estado final</a:t>
            </a:r>
            <a:endParaRPr lang="en-US" sz="21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300000" y="2448000"/>
            <a:ext cx="225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y = entradas − salidas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64" name=""/>
          <p:cNvSpPr/>
          <p:nvPr/>
        </p:nvSpPr>
        <p:spPr>
          <a:xfrm>
            <a:off x="8712000" y="2340000"/>
            <a:ext cx="306000" cy="0"/>
          </a:xfrm>
          <a:prstGeom prst="line">
            <a:avLst/>
          </a:prstGeom>
          <a:ln w="32400">
            <a:solidFill>
              <a:srgbClr val="4f73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9036000" y="1692000"/>
            <a:ext cx="2520000" cy="129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162000" y="18180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04</a:t>
            </a:r>
            <a:endParaRPr lang="en-US" sz="16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162000" y="2106000"/>
            <a:ext cx="2250000" cy="4136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1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Resultado</a:t>
            </a:r>
            <a:endParaRPr lang="en-US" sz="21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9162000" y="2448000"/>
            <a:ext cx="225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mínima polarización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69" name=""/>
          <p:cNvSpPr/>
          <p:nvPr/>
        </p:nvSpPr>
        <p:spPr>
          <a:xfrm>
            <a:off x="450000" y="3420000"/>
            <a:ext cx="5328000" cy="1440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450000" y="3420000"/>
            <a:ext cx="25200" cy="14400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9600" y="3513600"/>
            <a:ext cx="50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OBJETIVO</a:t>
            </a:r>
            <a:endParaRPr lang="en-US" sz="22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79600" y="3772800"/>
            <a:ext cx="5094000" cy="8132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Minimizar la suma de distancias a la mediana ponderada final.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73" name=""/>
          <p:cNvSpPr/>
          <p:nvPr/>
        </p:nvSpPr>
        <p:spPr>
          <a:xfrm>
            <a:off x="6048000" y="3420000"/>
            <a:ext cx="5328000" cy="1440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048000" y="3420000"/>
            <a:ext cx="25200" cy="1440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177600" y="3513600"/>
            <a:ext cx="50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FACTIBILIDAD</a:t>
            </a:r>
            <a:endParaRPr lang="en-US" sz="22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177600" y="3772800"/>
            <a:ext cx="5094000" cy="8132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Presupuesto ct  +  máximo de movimientos maxM  +  conservación.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03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Juan Carlos Cruz Muñoz  ·  0:55–1:50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82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9684000" y="6598800"/>
            <a:ext cx="504000" cy="216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1 · PARÁMETROS Y VARIABLES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Los datos que describen una instancia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O = {1,…,m} ·  Σ pᵢ = n ·  0 ≤ vᵢ ≤ 1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87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50000" y="1422000"/>
            <a:ext cx="2628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50000" y="1422000"/>
            <a:ext cx="25200" cy="12960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79600" y="1515600"/>
            <a:ext cx="23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n · m</a:t>
            </a:r>
            <a:endParaRPr lang="en-US" sz="22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79600" y="1774800"/>
            <a:ext cx="2394000" cy="6022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Personas totales · opiniones disponibles</a:t>
            </a:r>
            <a:endParaRPr lang="en-US" sz="16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92" name=""/>
          <p:cNvSpPr/>
          <p:nvPr/>
        </p:nvSpPr>
        <p:spPr>
          <a:xfrm>
            <a:off x="3294000" y="1422000"/>
            <a:ext cx="2628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294000" y="1422000"/>
            <a:ext cx="25200" cy="12960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423600" y="1515600"/>
            <a:ext cx="23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pᵢ</a:t>
            </a:r>
            <a:endParaRPr lang="en-US" sz="22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3423600" y="1774800"/>
            <a:ext cx="2394000" cy="6022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Población inicial en la opinión i</a:t>
            </a:r>
            <a:endParaRPr lang="en-US" sz="16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96" name=""/>
          <p:cNvSpPr/>
          <p:nvPr/>
        </p:nvSpPr>
        <p:spPr>
          <a:xfrm>
            <a:off x="6138000" y="1422000"/>
            <a:ext cx="2628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138000" y="1422000"/>
            <a:ext cx="25200" cy="12960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267600" y="1515600"/>
            <a:ext cx="23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vᵢ</a:t>
            </a:r>
            <a:endParaRPr lang="en-US" sz="22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267600" y="1774800"/>
            <a:ext cx="2394000" cy="6022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Valor numérico asociado a i</a:t>
            </a:r>
            <a:endParaRPr lang="en-US" sz="16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00" name=""/>
          <p:cNvSpPr/>
          <p:nvPr/>
        </p:nvSpPr>
        <p:spPr>
          <a:xfrm>
            <a:off x="8982000" y="1422000"/>
            <a:ext cx="2628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982000" y="1422000"/>
            <a:ext cx="25200" cy="1296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9111600" y="1515600"/>
            <a:ext cx="23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cᵢⱼ</a:t>
            </a:r>
            <a:endParaRPr lang="en-US" sz="22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9111600" y="1774800"/>
            <a:ext cx="2394000" cy="6022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Costo base de trasladar i → j</a:t>
            </a:r>
            <a:endParaRPr lang="en-US" sz="16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04" name=""/>
          <p:cNvSpPr/>
          <p:nvPr/>
        </p:nvSpPr>
        <p:spPr>
          <a:xfrm>
            <a:off x="450000" y="2970000"/>
            <a:ext cx="2628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50000" y="2970000"/>
            <a:ext cx="25200" cy="1296000"/>
          </a:xfrm>
          <a:prstGeom prst="rect">
            <a:avLst/>
          </a:prstGeom>
          <a:solidFill>
            <a:srgbClr val="8c4e4e"/>
          </a:solidFill>
          <a:ln w="0">
            <a:solidFill>
              <a:srgbClr val="8c4e4e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79600" y="3063600"/>
            <a:ext cx="23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c4e4e"/>
                </a:solidFill>
                <a:effectLst/>
                <a:uFillTx/>
                <a:latin typeface="Open Sans"/>
              </a:rPr>
              <a:t>ceⱼ</a:t>
            </a:r>
            <a:endParaRPr lang="en-US" sz="2200" b="1" u="none" strike="noStrike">
              <a:solidFill>
                <a:srgbClr val="8c4e4e"/>
              </a:solidFill>
              <a:effectLst/>
              <a:uFillTx/>
              <a:latin typeface="Open Sans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579600" y="3322800"/>
            <a:ext cx="2394000" cy="6022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Recargo si el destino estaba vacío</a:t>
            </a:r>
            <a:endParaRPr lang="en-US" sz="16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08" name=""/>
          <p:cNvSpPr/>
          <p:nvPr/>
        </p:nvSpPr>
        <p:spPr>
          <a:xfrm>
            <a:off x="3294000" y="2970000"/>
            <a:ext cx="2628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294000" y="2970000"/>
            <a:ext cx="25200" cy="1296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423600" y="3063600"/>
            <a:ext cx="23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ct</a:t>
            </a:r>
            <a:endParaRPr lang="en-US" sz="22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423600" y="3322800"/>
            <a:ext cx="2394000" cy="6022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Presupuesto máximo disponible</a:t>
            </a:r>
            <a:endParaRPr lang="en-US" sz="16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12" name=""/>
          <p:cNvSpPr/>
          <p:nvPr/>
        </p:nvSpPr>
        <p:spPr>
          <a:xfrm>
            <a:off x="6138000" y="2970000"/>
            <a:ext cx="2628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138000" y="2970000"/>
            <a:ext cx="25200" cy="12960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267600" y="3063600"/>
            <a:ext cx="23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maxM</a:t>
            </a:r>
            <a:endParaRPr lang="en-US" sz="22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267600" y="3322800"/>
            <a:ext cx="2394000" cy="6022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Distancia total máxima permitida</a:t>
            </a:r>
            <a:endParaRPr lang="en-US" sz="16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16" name=""/>
          <p:cNvSpPr/>
          <p:nvPr/>
        </p:nvSpPr>
        <p:spPr>
          <a:xfrm>
            <a:off x="8982000" y="2970000"/>
            <a:ext cx="2628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982000" y="2970000"/>
            <a:ext cx="25200" cy="12960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9111600" y="3063600"/>
            <a:ext cx="23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eⱼ</a:t>
            </a:r>
            <a:endParaRPr lang="en-US" sz="22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9111600" y="3322800"/>
            <a:ext cx="239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 si pⱼ = 0; 0 en otro caso</a:t>
            </a:r>
            <a:endParaRPr lang="en-US" sz="16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20" name=""/>
          <p:cNvSpPr/>
          <p:nvPr/>
        </p:nvSpPr>
        <p:spPr>
          <a:xfrm>
            <a:off x="450000" y="4752000"/>
            <a:ext cx="11160000" cy="684000"/>
          </a:xfrm>
          <a:prstGeom prst="roundRect">
            <a:avLst/>
          </a:prstGeom>
          <a:solidFill>
            <a:srgbClr val="e5eaee"/>
          </a:solidFill>
          <a:ln w="0">
            <a:solidFill>
              <a:srgbClr val="e5eaee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48000" y="4914000"/>
            <a:ext cx="241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costo unitario efectivo</a:t>
            </a:r>
            <a:endParaRPr lang="en-US" sz="16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060000" y="4867200"/>
            <a:ext cx="7920000" cy="4820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aᵢⱼ = cᵢⱼ (1 + pᵢ / n) + eⱼ · ceⱼ</a:t>
            </a:r>
            <a:endParaRPr lang="en-US" sz="2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04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Juan Carlos Cruz Muñoz  ·  1:50–3:00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28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9684000" y="6598800"/>
            <a:ext cx="504000" cy="216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1 · PARÁMETROS Y VARIABLES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Cuatro familias de variables de decisión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Todas son enteras o binarias: programación entera lineal (IP/PLE)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33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50000" y="1440000"/>
            <a:ext cx="2628000" cy="147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40000" y="1602000"/>
            <a:ext cx="2448000" cy="6375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34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xᵢⱼ</a:t>
            </a:r>
            <a:endParaRPr lang="en-US" sz="34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76000" y="2178000"/>
            <a:ext cx="2376000" cy="6418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personas que pasan de i a j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37" name=""/>
          <p:cNvSpPr/>
          <p:nvPr/>
        </p:nvSpPr>
        <p:spPr>
          <a:xfrm>
            <a:off x="3294000" y="1440000"/>
            <a:ext cx="2628000" cy="147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384000" y="1602000"/>
            <a:ext cx="2448000" cy="6375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34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yᵢ</a:t>
            </a:r>
            <a:endParaRPr lang="en-US" sz="34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420000" y="2178000"/>
            <a:ext cx="237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personas finales en i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40" name=""/>
          <p:cNvSpPr/>
          <p:nvPr/>
        </p:nvSpPr>
        <p:spPr>
          <a:xfrm>
            <a:off x="6138000" y="1440000"/>
            <a:ext cx="2628000" cy="147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228000" y="1602000"/>
            <a:ext cx="2448000" cy="6375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34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zₖ</a:t>
            </a:r>
            <a:endParaRPr lang="en-US" sz="34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264000" y="2178000"/>
            <a:ext cx="237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 si vₖ es la mediana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43" name=""/>
          <p:cNvSpPr/>
          <p:nvPr/>
        </p:nvSpPr>
        <p:spPr>
          <a:xfrm>
            <a:off x="8982000" y="1440000"/>
            <a:ext cx="2628000" cy="147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9072000" y="1602000"/>
            <a:ext cx="2448000" cy="6375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34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qᵢₖ</a:t>
            </a:r>
            <a:endParaRPr lang="en-US" sz="34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9108000" y="2178000"/>
            <a:ext cx="2376000" cy="6418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producto linealizado yᵢzₖ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46" name=""/>
          <p:cNvSpPr/>
          <p:nvPr/>
        </p:nvSpPr>
        <p:spPr>
          <a:xfrm>
            <a:off x="450000" y="3312000"/>
            <a:ext cx="5256000" cy="1512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50000" y="3312000"/>
            <a:ext cx="25200" cy="15120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79600" y="3405600"/>
            <a:ext cx="5022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EN MINIZINC</a:t>
            </a:r>
            <a:endParaRPr lang="en-US" sz="22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79600" y="3664800"/>
            <a:ext cx="5022000" cy="11394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1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x, y, q ∈ 0..n</a:t>
            </a:r>
            <a:endParaRPr lang="en-US" sz="21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1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z ∈ 0..1</a:t>
            </a:r>
            <a:endParaRPr lang="en-US" sz="21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1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índices sobre 1..m</a:t>
            </a:r>
            <a:endParaRPr lang="en-US" sz="21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50" name=""/>
          <p:cNvSpPr/>
          <p:nvPr/>
        </p:nvSpPr>
        <p:spPr>
          <a:xfrm>
            <a:off x="5976000" y="3312000"/>
            <a:ext cx="5634000" cy="1512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976000" y="3312000"/>
            <a:ext cx="25200" cy="1512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105600" y="3405600"/>
            <a:ext cx="5400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DECIMALES EXACTOS</a:t>
            </a:r>
            <a:endParaRPr lang="en-US" sz="22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105600" y="3664800"/>
            <a:ext cx="5400000" cy="7059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v, c, ce y ct llegan como enteros escalados.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Misma factibilidad; sin ruido binario.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05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David Alejandro Enciso Gutierrez  ·  3:00–3:45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59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9684000" y="6598800"/>
            <a:ext cx="1008000" cy="216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2 · RESTRICCIONES Y OBJETIVO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Primero: que cada movimiento tenga sentido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Disponibilidad, balance y conservación de la población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64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50000" y="1404000"/>
            <a:ext cx="11160000" cy="1008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50000" y="1404000"/>
            <a:ext cx="90000" cy="10080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66000" y="1540800"/>
            <a:ext cx="2340000" cy="742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Sin automovimientos</a:t>
            </a:r>
            <a:endParaRPr lang="en-US" sz="20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988000" y="1576800"/>
            <a:ext cx="5112000" cy="4669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4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xᵢᵢ = 0</a:t>
            </a:r>
            <a:endParaRPr lang="en-US" sz="24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8352000" y="1548000"/>
            <a:ext cx="284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Quedarse en i no es mover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70" name=""/>
          <p:cNvSpPr/>
          <p:nvPr/>
        </p:nvSpPr>
        <p:spPr>
          <a:xfrm>
            <a:off x="450000" y="2664000"/>
            <a:ext cx="11160000" cy="1008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450000" y="2664000"/>
            <a:ext cx="90000" cy="1008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66000" y="2800800"/>
            <a:ext cx="2340000" cy="396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Disponibilidad</a:t>
            </a:r>
            <a:endParaRPr lang="en-US" sz="20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2988000" y="2836800"/>
            <a:ext cx="5112000" cy="4669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4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Σⱼ≠ᵢ xᵢⱼ ≤ pᵢ</a:t>
            </a:r>
            <a:endParaRPr lang="en-US" sz="24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8352000" y="2808000"/>
            <a:ext cx="284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Nadie se utiliza dos veces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75" name=""/>
          <p:cNvSpPr/>
          <p:nvPr/>
        </p:nvSpPr>
        <p:spPr>
          <a:xfrm>
            <a:off x="450000" y="3924000"/>
            <a:ext cx="11160000" cy="1008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50000" y="3924000"/>
            <a:ext cx="90000" cy="10080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66000" y="4060800"/>
            <a:ext cx="2340000" cy="396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Balance</a:t>
            </a:r>
            <a:endParaRPr lang="en-US" sz="20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988000" y="4096800"/>
            <a:ext cx="5112000" cy="4669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4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yᵢ = pᵢ − salidas + llegadas</a:t>
            </a:r>
            <a:endParaRPr lang="en-US" sz="24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8352000" y="4068000"/>
            <a:ext cx="284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Σᵢ yᵢ = n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80" name=""/>
          <p:cNvSpPr/>
          <p:nvPr/>
        </p:nvSpPr>
        <p:spPr>
          <a:xfrm>
            <a:off x="3420000" y="5220000"/>
            <a:ext cx="5760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856a34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3463200" y="5257800"/>
            <a:ext cx="56736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UNA PERSONA SE MUEVE COMO MÁXIMO UNA VEZ</a:t>
            </a:r>
            <a:endParaRPr lang="en-US" sz="13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06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David Alejandro Enciso Gutierrez  ·  3:45–4:30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87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9684000" y="6598800"/>
            <a:ext cx="1008000" cy="216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2 · RESTRICCIONES Y OBJETIVO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Dos recursos distintos limitan la solución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El costo monetario no reemplaza la distancia total recorrida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192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450000" y="1476000"/>
            <a:ext cx="5310000" cy="2592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450000" y="1476000"/>
            <a:ext cx="25200" cy="2592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579600" y="1569600"/>
            <a:ext cx="5076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PRESUPUESTO</a:t>
            </a:r>
            <a:endParaRPr lang="en-US" sz="22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579600" y="1828800"/>
            <a:ext cx="5076000" cy="1575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Σᵢ Σⱼ≠ᵢ aᵢⱼ xᵢⱼ  ≤  ct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Incluye tamaño del grupo de origen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y recargo del destino vacío.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197" name=""/>
          <p:cNvSpPr/>
          <p:nvPr/>
        </p:nvSpPr>
        <p:spPr>
          <a:xfrm>
            <a:off x="6030000" y="1476000"/>
            <a:ext cx="5580000" cy="2592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030000" y="1476000"/>
            <a:ext cx="25200" cy="25920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159600" y="1569600"/>
            <a:ext cx="5346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MOVIMIENTOS</a:t>
            </a:r>
            <a:endParaRPr lang="en-US" sz="22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159600" y="1828800"/>
            <a:ext cx="5346000" cy="1575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Σᵢ Σⱼ≠ᵢ |j − i| xᵢⱼ  ≤  maxM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Cuenta posiciones recorridas,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no solo personas trasladadas.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01" name=""/>
          <p:cNvSpPr/>
          <p:nvPr/>
        </p:nvSpPr>
        <p:spPr>
          <a:xfrm>
            <a:off x="1872000" y="4464000"/>
            <a:ext cx="8460000" cy="864000"/>
          </a:xfrm>
          <a:prstGeom prst="roundRect">
            <a:avLst/>
          </a:prstGeom>
          <a:solidFill>
            <a:srgbClr val="e5eaee"/>
          </a:solidFill>
          <a:ln w="0">
            <a:solidFill>
              <a:srgbClr val="e5eaee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070000" y="4626000"/>
            <a:ext cx="10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Ejemplo</a:t>
            </a:r>
            <a:endParaRPr lang="en-US" sz="17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024000" y="4600800"/>
            <a:ext cx="6948000" cy="7765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1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2 personas de 4 → 1  consumen  2 · |1−4| = 6 movimientos</a:t>
            </a:r>
            <a:endParaRPr lang="en-US" sz="21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07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David Alejandro Enciso Gutierrez  ·  4:30–5:20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09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9684000" y="6598800"/>
            <a:ext cx="1008000" cy="216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2 · RESTRICCIONES Y OBJETIVO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La mediana entra al modelo sin volverlo no lineal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Una candidata activa; las auxiliares q conectan y con esa candidata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14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450000" y="1458000"/>
            <a:ext cx="3276000" cy="1440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50000" y="1458000"/>
            <a:ext cx="25200" cy="1440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579600" y="1551600"/>
            <a:ext cx="3042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1 · SELECCIÓN</a:t>
            </a:r>
            <a:endParaRPr lang="en-US" sz="22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79600" y="1810800"/>
            <a:ext cx="3042000" cy="14346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Σₖ zₖ = 1</a:t>
            </a:r>
            <a:endParaRPr lang="en-US" sz="20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endParaRPr lang="en-US" sz="20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0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Solo una candidata vₖ queda activa.</a:t>
            </a:r>
            <a:endParaRPr lang="en-US" sz="20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19" name=""/>
          <p:cNvSpPr/>
          <p:nvPr/>
        </p:nvSpPr>
        <p:spPr>
          <a:xfrm>
            <a:off x="4086000" y="1458000"/>
            <a:ext cx="3564000" cy="1440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086000" y="1458000"/>
            <a:ext cx="25200" cy="14400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215600" y="1551600"/>
            <a:ext cx="3330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2 · LINEALIZACIÓN</a:t>
            </a:r>
            <a:endParaRPr lang="en-US" sz="22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215600" y="1810800"/>
            <a:ext cx="3330000" cy="10335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qᵢₖ ≤ yᵢ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qᵢₖ ≤ nzₖ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qᵢₖ ≥ yᵢ − n(1−zₖ)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23" name=""/>
          <p:cNvSpPr/>
          <p:nvPr/>
        </p:nvSpPr>
        <p:spPr>
          <a:xfrm>
            <a:off x="8010000" y="1458000"/>
            <a:ext cx="3600000" cy="1440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8010000" y="1458000"/>
            <a:ext cx="25200" cy="14400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8139600" y="1551600"/>
            <a:ext cx="3366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3 · EFECTO</a:t>
            </a:r>
            <a:endParaRPr lang="en-US" sz="22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8139600" y="1810800"/>
            <a:ext cx="3366000" cy="742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zₖ = 0  ⇒  qᵢₖ = 0</a:t>
            </a:r>
            <a:endParaRPr lang="en-US" sz="20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0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zₖ = 1  ⇒  qᵢₖ = yᵢ</a:t>
            </a:r>
            <a:endParaRPr lang="en-US" sz="20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27" name=""/>
          <p:cNvSpPr/>
          <p:nvPr/>
        </p:nvSpPr>
        <p:spPr>
          <a:xfrm>
            <a:off x="450000" y="3312000"/>
            <a:ext cx="11160000" cy="1368000"/>
          </a:xfrm>
          <a:prstGeom prst="roundRect">
            <a:avLst/>
          </a:prstGeom>
          <a:solidFill>
            <a:srgbClr val="e5eaee"/>
          </a:solidFill>
          <a:ln w="0">
            <a:solidFill>
              <a:srgbClr val="e5eaee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684000" y="3474000"/>
            <a:ext cx="244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FUNCIÓN OBJETIVO</a:t>
            </a:r>
            <a:endParaRPr lang="en-US" sz="16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2736000" y="3600000"/>
            <a:ext cx="8280000" cy="5688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30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min  P = Σᵢ Σₖ |vᵢ − vₖ| · qᵢₖ</a:t>
            </a:r>
            <a:endParaRPr lang="en-US" sz="30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016000" y="4176000"/>
            <a:ext cx="846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7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Minimizar desviaciones absolutas selecciona una mediana ponderada.</a:t>
            </a:r>
            <a:endParaRPr lang="en-US" sz="17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08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David Alejandro Enciso Gutierrez  ·  5:20–6:00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36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9684000" y="6598800"/>
            <a:ext cx="1008000" cy="216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2 · RESTRICCIONES Y OBJETIVO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De un archivo MPL a un óptimo verificable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La transformación conserva exactamente los decimales de entrada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41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96000" y="1620000"/>
            <a:ext cx="1620000" cy="104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453600" y="1771200"/>
            <a:ext cx="1504800" cy="360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20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.mpl</a:t>
            </a:r>
            <a:endParaRPr lang="en-US" sz="20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68000" y="2142000"/>
            <a:ext cx="147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entrada</a:t>
            </a:r>
            <a:endParaRPr lang="en-US" sz="15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45" name=""/>
          <p:cNvSpPr/>
          <p:nvPr/>
        </p:nvSpPr>
        <p:spPr>
          <a:xfrm>
            <a:off x="2023200" y="2138400"/>
            <a:ext cx="216000" cy="0"/>
          </a:xfrm>
          <a:prstGeom prst="line">
            <a:avLst/>
          </a:prstGeom>
          <a:ln w="32400">
            <a:solidFill>
              <a:srgbClr val="2b5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2286000" y="1620000"/>
            <a:ext cx="1620000" cy="104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2343600" y="1771200"/>
            <a:ext cx="1504800" cy="360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20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validar</a:t>
            </a:r>
            <a:endParaRPr lang="en-US" sz="20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358000" y="2142000"/>
            <a:ext cx="147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+ escalar</a:t>
            </a:r>
            <a:endParaRPr lang="en-US" sz="15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49" name=""/>
          <p:cNvSpPr/>
          <p:nvPr/>
        </p:nvSpPr>
        <p:spPr>
          <a:xfrm>
            <a:off x="3913200" y="2138400"/>
            <a:ext cx="216000" cy="0"/>
          </a:xfrm>
          <a:prstGeom prst="line">
            <a:avLst/>
          </a:prstGeom>
          <a:ln w="32400">
            <a:solidFill>
              <a:srgbClr val="856a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176000" y="1620000"/>
            <a:ext cx="1620000" cy="104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233600" y="1771200"/>
            <a:ext cx="1504800" cy="360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20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.dzn</a:t>
            </a:r>
            <a:endParaRPr lang="en-US" sz="20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248000" y="2142000"/>
            <a:ext cx="147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enteros</a:t>
            </a:r>
            <a:endParaRPr lang="en-US" sz="15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53" name=""/>
          <p:cNvSpPr/>
          <p:nvPr/>
        </p:nvSpPr>
        <p:spPr>
          <a:xfrm>
            <a:off x="5803200" y="2138400"/>
            <a:ext cx="216000" cy="0"/>
          </a:xfrm>
          <a:prstGeom prst="line">
            <a:avLst/>
          </a:prstGeom>
          <a:ln w="32400">
            <a:solidFill>
              <a:srgbClr val="4f73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6066000" y="1620000"/>
            <a:ext cx="1620000" cy="104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123600" y="1771200"/>
            <a:ext cx="15048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6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Proyecto.mzn</a:t>
            </a:r>
            <a:endParaRPr lang="en-US" sz="16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6138000" y="2142000"/>
            <a:ext cx="147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IP/PLE</a:t>
            </a:r>
            <a:endParaRPr lang="en-US" sz="15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57" name=""/>
          <p:cNvSpPr/>
          <p:nvPr/>
        </p:nvSpPr>
        <p:spPr>
          <a:xfrm>
            <a:off x="7693200" y="2138400"/>
            <a:ext cx="216000" cy="0"/>
          </a:xfrm>
          <a:prstGeom prst="line">
            <a:avLst/>
          </a:prstGeom>
          <a:ln w="32400">
            <a:solidFill>
              <a:srgbClr val="2b5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7956000" y="1620000"/>
            <a:ext cx="1620000" cy="104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013600" y="1771200"/>
            <a:ext cx="1504800" cy="360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20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solver</a:t>
            </a:r>
            <a:endParaRPr lang="en-US" sz="20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8028000" y="2142000"/>
            <a:ext cx="1476000" cy="5720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ramificación + poda</a:t>
            </a:r>
            <a:endParaRPr lang="en-US" sz="15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61" name=""/>
          <p:cNvSpPr/>
          <p:nvPr/>
        </p:nvSpPr>
        <p:spPr>
          <a:xfrm>
            <a:off x="9583200" y="2138400"/>
            <a:ext cx="216000" cy="0"/>
          </a:xfrm>
          <a:prstGeom prst="line">
            <a:avLst/>
          </a:prstGeom>
          <a:ln w="32400">
            <a:solidFill>
              <a:srgbClr val="4770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9846000" y="1620000"/>
            <a:ext cx="1620000" cy="104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9903600" y="1771200"/>
            <a:ext cx="1504800" cy="360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20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resultado</a:t>
            </a:r>
            <a:endParaRPr lang="en-US" sz="20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9918000" y="2142000"/>
            <a:ext cx="147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+ 7 checks</a:t>
            </a:r>
            <a:endParaRPr lang="en-US" sz="15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65" name=""/>
          <p:cNvSpPr/>
          <p:nvPr/>
        </p:nvSpPr>
        <p:spPr>
          <a:xfrm>
            <a:off x="450000" y="3060000"/>
            <a:ext cx="5256000" cy="1548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450000" y="3060000"/>
            <a:ext cx="25200" cy="15480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79600" y="3153600"/>
            <a:ext cx="5022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ESCALAMIENTO</a:t>
            </a:r>
            <a:endParaRPr lang="en-US" sz="22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579600" y="3412800"/>
            <a:ext cx="5022000" cy="10886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Vᵢ = Sᵥvᵢ  ·  Cᵢⱼ = Sccᵢⱼ</a:t>
            </a:r>
            <a:endParaRPr lang="en-US" sz="20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0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La división por n se elimina algebraicamente.</a:t>
            </a:r>
            <a:endParaRPr lang="en-US" sz="20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69" name=""/>
          <p:cNvSpPr/>
          <p:nvPr/>
        </p:nvSpPr>
        <p:spPr>
          <a:xfrm>
            <a:off x="5976000" y="3060000"/>
            <a:ext cx="5634000" cy="1548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5976000" y="3060000"/>
            <a:ext cx="25200" cy="15480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105600" y="3153600"/>
            <a:ext cx="5400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CERTIFICADO DE ÓPTIMO</a:t>
            </a:r>
            <a:endParaRPr lang="en-US" sz="22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105600" y="3412800"/>
            <a:ext cx="5400000" cy="10335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Relajación lineal → LB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Incumbente entero → UB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LB = UB  ⇒  brecha 0 %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09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Juan Esteban Rodriguez Valencia  ·  6:00–6:35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78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9684000" y="6598800"/>
            <a:ext cx="1512000" cy="216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3 · RESULTADOS Y ANÁLISIS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La solución se comprueba desde varias capas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El verificador independiente no confía en las etiquetas del solver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83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450000" y="1404000"/>
            <a:ext cx="2628000" cy="66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486000" y="1468800"/>
            <a:ext cx="2556000" cy="5018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6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6</a:t>
            </a:r>
            <a:endParaRPr lang="en-US" sz="26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86000" y="1825200"/>
            <a:ext cx="255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3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instancias principales</a:t>
            </a:r>
            <a:endParaRPr lang="en-US" sz="13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87" name=""/>
          <p:cNvSpPr/>
          <p:nvPr/>
        </p:nvSpPr>
        <p:spPr>
          <a:xfrm>
            <a:off x="3294000" y="1404000"/>
            <a:ext cx="2628000" cy="66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3330000" y="1468800"/>
            <a:ext cx="2556000" cy="5018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6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4</a:t>
            </a:r>
            <a:endParaRPr lang="en-US" sz="26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3330000" y="1825200"/>
            <a:ext cx="255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3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variaciones controladas</a:t>
            </a:r>
            <a:endParaRPr lang="en-US" sz="13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90" name=""/>
          <p:cNvSpPr/>
          <p:nvPr/>
        </p:nvSpPr>
        <p:spPr>
          <a:xfrm>
            <a:off x="6138000" y="1404000"/>
            <a:ext cx="2628000" cy="66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174000" y="1468800"/>
            <a:ext cx="2556000" cy="5018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6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30</a:t>
            </a:r>
            <a:endParaRPr lang="en-US" sz="26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6174000" y="1825200"/>
            <a:ext cx="255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3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entradas suministradas</a:t>
            </a:r>
            <a:endParaRPr lang="en-US" sz="13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93" name=""/>
          <p:cNvSpPr/>
          <p:nvPr/>
        </p:nvSpPr>
        <p:spPr>
          <a:xfrm>
            <a:off x="8982000" y="1404000"/>
            <a:ext cx="2628000" cy="66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9018000" y="1468800"/>
            <a:ext cx="2556000" cy="5018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6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100 %</a:t>
            </a:r>
            <a:endParaRPr lang="en-US" sz="26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9018000" y="1825200"/>
            <a:ext cx="255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3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con estado óptimo</a:t>
            </a:r>
            <a:endParaRPr lang="en-US" sz="13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296" name=""/>
          <p:cNvSpPr/>
          <p:nvPr/>
        </p:nvSpPr>
        <p:spPr>
          <a:xfrm>
            <a:off x="450000" y="2412000"/>
            <a:ext cx="11160000" cy="2376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684000" y="2592000"/>
            <a:ext cx="360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8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VERIFICACIÓN INDEPENDIENTE</a:t>
            </a:r>
            <a:endParaRPr lang="en-US" sz="18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684000" y="3024000"/>
            <a:ext cx="4680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4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OK</a:t>
            </a:r>
            <a:endParaRPr lang="en-US" sz="14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206000" y="3024000"/>
            <a:ext cx="433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dominio y diagonal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6084000" y="3024000"/>
            <a:ext cx="4680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4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OK</a:t>
            </a:r>
            <a:endParaRPr lang="en-US" sz="14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6606000" y="3024000"/>
            <a:ext cx="433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disponibilidad por origen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684000" y="3492000"/>
            <a:ext cx="4680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4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OK</a:t>
            </a:r>
            <a:endParaRPr lang="en-US" sz="14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206000" y="3492000"/>
            <a:ext cx="433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balance y conservación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6084000" y="3492000"/>
            <a:ext cx="4680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4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OK</a:t>
            </a:r>
            <a:endParaRPr lang="en-US" sz="14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606000" y="3492000"/>
            <a:ext cx="433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costo y presupuesto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684000" y="3960000"/>
            <a:ext cx="4680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4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OK</a:t>
            </a:r>
            <a:endParaRPr lang="en-US" sz="14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206000" y="3960000"/>
            <a:ext cx="433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distancia ≤ maxM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6084000" y="3960000"/>
            <a:ext cx="4680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4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OK</a:t>
            </a:r>
            <a:endParaRPr lang="en-US" sz="14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606000" y="3960000"/>
            <a:ext cx="433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mediana y polarización</a:t>
            </a:r>
            <a:endParaRPr lang="en-US" sz="17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10" name=""/>
          <p:cNvSpPr/>
          <p:nvPr/>
        </p:nvSpPr>
        <p:spPr>
          <a:xfrm>
            <a:off x="3240000" y="5076000"/>
            <a:ext cx="5940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4f7392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3283200" y="5113800"/>
            <a:ext cx="58536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10 PRUEBAS DE INTEGRACIÓN · 8 UNITARIAS</a:t>
            </a:r>
            <a:endParaRPr lang="en-US" sz="13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10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Juan Esteban Rodriguez Valencia  ·  6:35–7:20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317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9684000" y="6598800"/>
            <a:ext cx="1512000" cy="216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3 · RESULTADOS Y ANÁLISIS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Seis instancias, seis óptimos certificados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MiniZinc 2.9.7 · HiGHS 1.14.0 · tiempos puntuales del solver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322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450000" y="1404000"/>
            <a:ext cx="2952000" cy="558000"/>
          </a:xfrm>
          <a:prstGeom prst="rect">
            <a:avLst/>
          </a:prstGeom>
          <a:solidFill>
            <a:srgbClr val="29485c"/>
          </a:solidFill>
          <a:ln w="0">
            <a:solidFill>
              <a:srgbClr val="29485c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471600" y="1555200"/>
            <a:ext cx="29088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Instancia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325" name=""/>
          <p:cNvSpPr/>
          <p:nvPr/>
        </p:nvSpPr>
        <p:spPr>
          <a:xfrm>
            <a:off x="3402000" y="1404000"/>
            <a:ext cx="900000" cy="558000"/>
          </a:xfrm>
          <a:prstGeom prst="rect">
            <a:avLst/>
          </a:prstGeom>
          <a:solidFill>
            <a:srgbClr val="29485c"/>
          </a:solidFill>
          <a:ln w="0">
            <a:solidFill>
              <a:srgbClr val="29485c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3423600" y="1555200"/>
            <a:ext cx="8568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n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327" name=""/>
          <p:cNvSpPr/>
          <p:nvPr/>
        </p:nvSpPr>
        <p:spPr>
          <a:xfrm>
            <a:off x="4302000" y="1404000"/>
            <a:ext cx="900000" cy="558000"/>
          </a:xfrm>
          <a:prstGeom prst="rect">
            <a:avLst/>
          </a:prstGeom>
          <a:solidFill>
            <a:srgbClr val="29485c"/>
          </a:solidFill>
          <a:ln w="0">
            <a:solidFill>
              <a:srgbClr val="29485c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4323600" y="1555200"/>
            <a:ext cx="8568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m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329" name=""/>
          <p:cNvSpPr/>
          <p:nvPr/>
        </p:nvSpPr>
        <p:spPr>
          <a:xfrm>
            <a:off x="5202000" y="1404000"/>
            <a:ext cx="1512000" cy="558000"/>
          </a:xfrm>
          <a:prstGeom prst="rect">
            <a:avLst/>
          </a:prstGeom>
          <a:solidFill>
            <a:srgbClr val="29485c"/>
          </a:solidFill>
          <a:ln w="0">
            <a:solidFill>
              <a:srgbClr val="29485c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5223600" y="1555200"/>
            <a:ext cx="14688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Costo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331" name=""/>
          <p:cNvSpPr/>
          <p:nvPr/>
        </p:nvSpPr>
        <p:spPr>
          <a:xfrm>
            <a:off x="6714000" y="1404000"/>
            <a:ext cx="1260000" cy="558000"/>
          </a:xfrm>
          <a:prstGeom prst="rect">
            <a:avLst/>
          </a:prstGeom>
          <a:solidFill>
            <a:srgbClr val="29485c"/>
          </a:solidFill>
          <a:ln w="0">
            <a:solidFill>
              <a:srgbClr val="29485c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6735600" y="1555200"/>
            <a:ext cx="12168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Movs.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333" name=""/>
          <p:cNvSpPr/>
          <p:nvPr/>
        </p:nvSpPr>
        <p:spPr>
          <a:xfrm>
            <a:off x="7974000" y="1404000"/>
            <a:ext cx="1188000" cy="558000"/>
          </a:xfrm>
          <a:prstGeom prst="rect">
            <a:avLst/>
          </a:prstGeom>
          <a:solidFill>
            <a:srgbClr val="29485c"/>
          </a:solidFill>
          <a:ln w="0">
            <a:solidFill>
              <a:srgbClr val="29485c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7995600" y="1555200"/>
            <a:ext cx="11448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Pol.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335" name=""/>
          <p:cNvSpPr/>
          <p:nvPr/>
        </p:nvSpPr>
        <p:spPr>
          <a:xfrm>
            <a:off x="9162000" y="1404000"/>
            <a:ext cx="1260000" cy="558000"/>
          </a:xfrm>
          <a:prstGeom prst="rect">
            <a:avLst/>
          </a:prstGeom>
          <a:solidFill>
            <a:srgbClr val="29485c"/>
          </a:solidFill>
          <a:ln w="0">
            <a:solidFill>
              <a:srgbClr val="29485c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9183600" y="1555200"/>
            <a:ext cx="12168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s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337" name=""/>
          <p:cNvSpPr/>
          <p:nvPr/>
        </p:nvSpPr>
        <p:spPr>
          <a:xfrm>
            <a:off x="10422000" y="1404000"/>
            <a:ext cx="1188000" cy="558000"/>
          </a:xfrm>
          <a:prstGeom prst="rect">
            <a:avLst/>
          </a:prstGeom>
          <a:solidFill>
            <a:srgbClr val="29485c"/>
          </a:solidFill>
          <a:ln w="0">
            <a:solidFill>
              <a:srgbClr val="29485c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0443600" y="1555200"/>
            <a:ext cx="11448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Nodos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339" name=""/>
          <p:cNvSpPr/>
          <p:nvPr/>
        </p:nvSpPr>
        <p:spPr>
          <a:xfrm>
            <a:off x="450000" y="1962000"/>
            <a:ext cx="2952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86000" y="2102400"/>
            <a:ext cx="28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Ejemplo PDF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41" name=""/>
          <p:cNvSpPr/>
          <p:nvPr/>
        </p:nvSpPr>
        <p:spPr>
          <a:xfrm>
            <a:off x="3402000" y="1962000"/>
            <a:ext cx="90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438000" y="2102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20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43" name=""/>
          <p:cNvSpPr/>
          <p:nvPr/>
        </p:nvSpPr>
        <p:spPr>
          <a:xfrm>
            <a:off x="4302000" y="1962000"/>
            <a:ext cx="90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4338000" y="2102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5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45" name=""/>
          <p:cNvSpPr/>
          <p:nvPr/>
        </p:nvSpPr>
        <p:spPr>
          <a:xfrm>
            <a:off x="5202000" y="1962000"/>
            <a:ext cx="1512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5238000" y="2102400"/>
            <a:ext cx="14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19.2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47" name=""/>
          <p:cNvSpPr/>
          <p:nvPr/>
        </p:nvSpPr>
        <p:spPr>
          <a:xfrm>
            <a:off x="6714000" y="1962000"/>
            <a:ext cx="126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750000" y="2102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14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49" name=""/>
          <p:cNvSpPr/>
          <p:nvPr/>
        </p:nvSpPr>
        <p:spPr>
          <a:xfrm>
            <a:off x="7974000" y="1962000"/>
            <a:ext cx="1188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8010000" y="2102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0.5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51" name=""/>
          <p:cNvSpPr/>
          <p:nvPr/>
        </p:nvSpPr>
        <p:spPr>
          <a:xfrm>
            <a:off x="9162000" y="1962000"/>
            <a:ext cx="126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9198000" y="2102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0.0255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53" name=""/>
          <p:cNvSpPr/>
          <p:nvPr/>
        </p:nvSpPr>
        <p:spPr>
          <a:xfrm>
            <a:off x="10422000" y="1962000"/>
            <a:ext cx="1188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0458000" y="2102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55" name=""/>
          <p:cNvSpPr/>
          <p:nvPr/>
        </p:nvSpPr>
        <p:spPr>
          <a:xfrm>
            <a:off x="450000" y="2520000"/>
            <a:ext cx="2952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486000" y="2660400"/>
            <a:ext cx="28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Consenso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57" name=""/>
          <p:cNvSpPr/>
          <p:nvPr/>
        </p:nvSpPr>
        <p:spPr>
          <a:xfrm>
            <a:off x="3402000" y="2520000"/>
            <a:ext cx="90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438000" y="2660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10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59" name=""/>
          <p:cNvSpPr/>
          <p:nvPr/>
        </p:nvSpPr>
        <p:spPr>
          <a:xfrm>
            <a:off x="4302000" y="2520000"/>
            <a:ext cx="90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4338000" y="2660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4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61" name=""/>
          <p:cNvSpPr/>
          <p:nvPr/>
        </p:nvSpPr>
        <p:spPr>
          <a:xfrm>
            <a:off x="5202000" y="2520000"/>
            <a:ext cx="1512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238000" y="2660400"/>
            <a:ext cx="14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11.7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63" name=""/>
          <p:cNvSpPr/>
          <p:nvPr/>
        </p:nvSpPr>
        <p:spPr>
          <a:xfrm>
            <a:off x="6714000" y="2520000"/>
            <a:ext cx="126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6750000" y="2660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6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65" name=""/>
          <p:cNvSpPr/>
          <p:nvPr/>
        </p:nvSpPr>
        <p:spPr>
          <a:xfrm>
            <a:off x="7974000" y="2520000"/>
            <a:ext cx="1188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8010000" y="2660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0</a:t>
            </a:r>
            <a:endParaRPr lang="en-US" sz="15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367" name=""/>
          <p:cNvSpPr/>
          <p:nvPr/>
        </p:nvSpPr>
        <p:spPr>
          <a:xfrm>
            <a:off x="9162000" y="2520000"/>
            <a:ext cx="126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9198000" y="2660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0.0121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69" name=""/>
          <p:cNvSpPr/>
          <p:nvPr/>
        </p:nvSpPr>
        <p:spPr>
          <a:xfrm>
            <a:off x="10422000" y="2520000"/>
            <a:ext cx="1188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0458000" y="2660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71" name=""/>
          <p:cNvSpPr/>
          <p:nvPr/>
        </p:nvSpPr>
        <p:spPr>
          <a:xfrm>
            <a:off x="450000" y="3078000"/>
            <a:ext cx="2952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486000" y="3218400"/>
            <a:ext cx="28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Presupuesto bajo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73" name=""/>
          <p:cNvSpPr/>
          <p:nvPr/>
        </p:nvSpPr>
        <p:spPr>
          <a:xfrm>
            <a:off x="3402000" y="3078000"/>
            <a:ext cx="90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3438000" y="3218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20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75" name=""/>
          <p:cNvSpPr/>
          <p:nvPr/>
        </p:nvSpPr>
        <p:spPr>
          <a:xfrm>
            <a:off x="4302000" y="3078000"/>
            <a:ext cx="90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4338000" y="3218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5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77" name=""/>
          <p:cNvSpPr/>
          <p:nvPr/>
        </p:nvSpPr>
        <p:spPr>
          <a:xfrm>
            <a:off x="5202000" y="3078000"/>
            <a:ext cx="1512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5238000" y="3218400"/>
            <a:ext cx="14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9.8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79" name=""/>
          <p:cNvSpPr/>
          <p:nvPr/>
        </p:nvSpPr>
        <p:spPr>
          <a:xfrm>
            <a:off x="6714000" y="3078000"/>
            <a:ext cx="126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6750000" y="3218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7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81" name=""/>
          <p:cNvSpPr/>
          <p:nvPr/>
        </p:nvSpPr>
        <p:spPr>
          <a:xfrm>
            <a:off x="7974000" y="3078000"/>
            <a:ext cx="1188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8010000" y="3218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5.8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83" name=""/>
          <p:cNvSpPr/>
          <p:nvPr/>
        </p:nvSpPr>
        <p:spPr>
          <a:xfrm>
            <a:off x="9162000" y="3078000"/>
            <a:ext cx="126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9198000" y="3218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0.1048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85" name=""/>
          <p:cNvSpPr/>
          <p:nvPr/>
        </p:nvSpPr>
        <p:spPr>
          <a:xfrm>
            <a:off x="10422000" y="3078000"/>
            <a:ext cx="1188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0458000" y="3218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9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87" name=""/>
          <p:cNvSpPr/>
          <p:nvPr/>
        </p:nvSpPr>
        <p:spPr>
          <a:xfrm>
            <a:off x="450000" y="3636000"/>
            <a:ext cx="2952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486000" y="3776400"/>
            <a:ext cx="28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Costo extra alto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89" name=""/>
          <p:cNvSpPr/>
          <p:nvPr/>
        </p:nvSpPr>
        <p:spPr>
          <a:xfrm>
            <a:off x="3402000" y="3636000"/>
            <a:ext cx="90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3438000" y="3776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24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91" name=""/>
          <p:cNvSpPr/>
          <p:nvPr/>
        </p:nvSpPr>
        <p:spPr>
          <a:xfrm>
            <a:off x="4302000" y="3636000"/>
            <a:ext cx="90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4338000" y="3776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6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93" name=""/>
          <p:cNvSpPr/>
          <p:nvPr/>
        </p:nvSpPr>
        <p:spPr>
          <a:xfrm>
            <a:off x="5202000" y="3636000"/>
            <a:ext cx="1512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5238000" y="3776400"/>
            <a:ext cx="14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30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95" name=""/>
          <p:cNvSpPr/>
          <p:nvPr/>
        </p:nvSpPr>
        <p:spPr>
          <a:xfrm>
            <a:off x="6714000" y="3636000"/>
            <a:ext cx="126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6750000" y="3776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18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97" name=""/>
          <p:cNvSpPr/>
          <p:nvPr/>
        </p:nvSpPr>
        <p:spPr>
          <a:xfrm>
            <a:off x="7974000" y="3636000"/>
            <a:ext cx="1188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8010000" y="3776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6.75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399" name=""/>
          <p:cNvSpPr/>
          <p:nvPr/>
        </p:nvSpPr>
        <p:spPr>
          <a:xfrm>
            <a:off x="9162000" y="3636000"/>
            <a:ext cx="126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9198000" y="3776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0.1867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01" name=""/>
          <p:cNvSpPr/>
          <p:nvPr/>
        </p:nvSpPr>
        <p:spPr>
          <a:xfrm>
            <a:off x="10422000" y="3636000"/>
            <a:ext cx="1188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0458000" y="3776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11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03" name=""/>
          <p:cNvSpPr/>
          <p:nvPr/>
        </p:nvSpPr>
        <p:spPr>
          <a:xfrm>
            <a:off x="450000" y="4194000"/>
            <a:ext cx="2952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486000" y="4334400"/>
            <a:ext cx="28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Decimales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05" name=""/>
          <p:cNvSpPr/>
          <p:nvPr/>
        </p:nvSpPr>
        <p:spPr>
          <a:xfrm>
            <a:off x="3402000" y="4194000"/>
            <a:ext cx="90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3438000" y="4334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18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07" name=""/>
          <p:cNvSpPr/>
          <p:nvPr/>
        </p:nvSpPr>
        <p:spPr>
          <a:xfrm>
            <a:off x="4302000" y="4194000"/>
            <a:ext cx="90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4338000" y="4334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6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09" name=""/>
          <p:cNvSpPr/>
          <p:nvPr/>
        </p:nvSpPr>
        <p:spPr>
          <a:xfrm>
            <a:off x="5202000" y="4194000"/>
            <a:ext cx="1512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5238000" y="4334400"/>
            <a:ext cx="14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18.6667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11" name=""/>
          <p:cNvSpPr/>
          <p:nvPr/>
        </p:nvSpPr>
        <p:spPr>
          <a:xfrm>
            <a:off x="6714000" y="4194000"/>
            <a:ext cx="126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6750000" y="4334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14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13" name=""/>
          <p:cNvSpPr/>
          <p:nvPr/>
        </p:nvSpPr>
        <p:spPr>
          <a:xfrm>
            <a:off x="7974000" y="4194000"/>
            <a:ext cx="1188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8010000" y="4334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2.75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15" name=""/>
          <p:cNvSpPr/>
          <p:nvPr/>
        </p:nvSpPr>
        <p:spPr>
          <a:xfrm>
            <a:off x="9162000" y="4194000"/>
            <a:ext cx="1260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9198000" y="4334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0.2588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17" name=""/>
          <p:cNvSpPr/>
          <p:nvPr/>
        </p:nvSpPr>
        <p:spPr>
          <a:xfrm>
            <a:off x="10422000" y="4194000"/>
            <a:ext cx="1188000" cy="558000"/>
          </a:xfrm>
          <a:prstGeom prst="rect">
            <a:avLst/>
          </a:prstGeom>
          <a:solidFill>
            <a:srgbClr val="f0f3f5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10458000" y="4334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76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19" name=""/>
          <p:cNvSpPr/>
          <p:nvPr/>
        </p:nvSpPr>
        <p:spPr>
          <a:xfrm>
            <a:off x="450000" y="4752000"/>
            <a:ext cx="2952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486000" y="4892400"/>
            <a:ext cx="28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Instancia grande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21" name=""/>
          <p:cNvSpPr/>
          <p:nvPr/>
        </p:nvSpPr>
        <p:spPr>
          <a:xfrm>
            <a:off x="3402000" y="4752000"/>
            <a:ext cx="90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3438000" y="4892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40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23" name=""/>
          <p:cNvSpPr/>
          <p:nvPr/>
        </p:nvSpPr>
        <p:spPr>
          <a:xfrm>
            <a:off x="4302000" y="4752000"/>
            <a:ext cx="90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4338000" y="4892400"/>
            <a:ext cx="82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8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25" name=""/>
          <p:cNvSpPr/>
          <p:nvPr/>
        </p:nvSpPr>
        <p:spPr>
          <a:xfrm>
            <a:off x="5202000" y="4752000"/>
            <a:ext cx="1512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5238000" y="4892400"/>
            <a:ext cx="14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44.85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27" name=""/>
          <p:cNvSpPr/>
          <p:nvPr/>
        </p:nvSpPr>
        <p:spPr>
          <a:xfrm>
            <a:off x="6714000" y="4752000"/>
            <a:ext cx="126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6750000" y="4892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24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29" name=""/>
          <p:cNvSpPr/>
          <p:nvPr/>
        </p:nvSpPr>
        <p:spPr>
          <a:xfrm>
            <a:off x="7974000" y="4752000"/>
            <a:ext cx="1188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8010000" y="4892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11.7</a:t>
            </a:r>
            <a:endParaRPr lang="en-US" sz="15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31" name=""/>
          <p:cNvSpPr/>
          <p:nvPr/>
        </p:nvSpPr>
        <p:spPr>
          <a:xfrm>
            <a:off x="9162000" y="4752000"/>
            <a:ext cx="1260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9198000" y="4892400"/>
            <a:ext cx="118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0.3547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33" name=""/>
          <p:cNvSpPr/>
          <p:nvPr/>
        </p:nvSpPr>
        <p:spPr>
          <a:xfrm>
            <a:off x="10422000" y="4752000"/>
            <a:ext cx="1188000" cy="558000"/>
          </a:xfrm>
          <a:prstGeom prst="rect">
            <a:avLst/>
          </a:prstGeom>
          <a:solidFill>
            <a:srgbClr val="e5eaee"/>
          </a:solidFill>
          <a:ln w="10800">
            <a:solidFill>
              <a:srgbClr val="e5eaee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0458000" y="4892400"/>
            <a:ext cx="111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5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15</a:t>
            </a:r>
            <a:endParaRPr lang="en-US" sz="15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540000" y="5328000"/>
            <a:ext cx="1080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6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30/30 entradas suministradas: óptimas y verificadas · 23 coincidencias textuales · 7 diferencias de 0.001</a:t>
            </a:r>
            <a:endParaRPr lang="en-US" sz="16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11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Juan Esteban Rodriguez Valencia  ·  7:20–8:10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41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9684000" y="6598800"/>
            <a:ext cx="1512000" cy="216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3 · RESULTADOS Y ANÁLISIS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Presupuesto y recargos cambian el óptimo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Las comparaciones aíslan un parámetro y mantienen los demás fijos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46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450000" y="1404000"/>
            <a:ext cx="5400000" cy="3024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8" name=""/>
          <p:cNvPicPr/>
          <p:nvPr/>
        </p:nvPicPr>
        <p:blipFill>
          <a:blip r:embed="rId1"/>
          <a:stretch/>
        </p:blipFill>
        <p:spPr>
          <a:xfrm>
            <a:off x="482400" y="1436400"/>
            <a:ext cx="5335200" cy="295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"/>
          <p:cNvSpPr/>
          <p:nvPr/>
        </p:nvSpPr>
        <p:spPr>
          <a:xfrm>
            <a:off x="6120000" y="1404000"/>
            <a:ext cx="5490000" cy="3024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0" name=""/>
          <p:cNvPicPr/>
          <p:nvPr/>
        </p:nvPicPr>
        <p:blipFill>
          <a:blip r:embed="rId2"/>
          <a:stretch/>
        </p:blipFill>
        <p:spPr>
          <a:xfrm>
            <a:off x="6152400" y="1436400"/>
            <a:ext cx="5425200" cy="295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"/>
          <p:cNvSpPr/>
          <p:nvPr/>
        </p:nvSpPr>
        <p:spPr>
          <a:xfrm>
            <a:off x="1044000" y="4752000"/>
            <a:ext cx="4320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2b5f7a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1087200" y="4789800"/>
            <a:ext cx="42336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ct: 0 → 24  ·  polarización: 4 → 0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453" name=""/>
          <p:cNvSpPr/>
          <p:nvPr/>
        </p:nvSpPr>
        <p:spPr>
          <a:xfrm>
            <a:off x="6516000" y="4752000"/>
            <a:ext cx="4752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856a34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6559200" y="4789800"/>
            <a:ext cx="46656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ce: 12 → 0  ·  polarización: 6.75 → 6</a:t>
            </a:r>
            <a:endParaRPr lang="en-US" sz="13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12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Juan Esteban Rodriguez Valencia  ·  8:10–9:00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60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9684000" y="6598800"/>
            <a:ext cx="1512000" cy="216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3 · RESULTADOS Y ANÁLISIS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Branch and Bound: ramificar, acotar y podar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Tamaño: m² variables x + m² auxiliares q + m binarias z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65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450000" y="1404000"/>
            <a:ext cx="5472000" cy="3168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7" name=""/>
          <p:cNvPicPr/>
          <p:nvPr/>
        </p:nvPicPr>
        <p:blipFill>
          <a:blip r:embed="rId1"/>
          <a:stretch/>
        </p:blipFill>
        <p:spPr>
          <a:xfrm>
            <a:off x="482400" y="1436400"/>
            <a:ext cx="5407200" cy="310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"/>
          <p:cNvSpPr/>
          <p:nvPr/>
        </p:nvSpPr>
        <p:spPr>
          <a:xfrm>
            <a:off x="6228000" y="1404000"/>
            <a:ext cx="5382000" cy="75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6228000" y="1404000"/>
            <a:ext cx="25200" cy="7560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6357600" y="1497600"/>
            <a:ext cx="5148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RAMIFICACIÓN</a:t>
            </a:r>
            <a:endParaRPr lang="en-US" sz="22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6357600" y="1756800"/>
            <a:ext cx="514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4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Variable fraccionaria → dos subproblemas.</a:t>
            </a:r>
            <a:endParaRPr lang="en-US" sz="14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72" name=""/>
          <p:cNvSpPr/>
          <p:nvPr/>
        </p:nvSpPr>
        <p:spPr>
          <a:xfrm>
            <a:off x="6228000" y="2214000"/>
            <a:ext cx="5382000" cy="75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6228000" y="2214000"/>
            <a:ext cx="25200" cy="756000"/>
          </a:xfrm>
          <a:prstGeom prst="rect">
            <a:avLst/>
          </a:prstGeom>
          <a:solidFill>
            <a:srgbClr val="8c4e4e"/>
          </a:solidFill>
          <a:ln w="0">
            <a:solidFill>
              <a:srgbClr val="8c4e4e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6357600" y="2307600"/>
            <a:ext cx="5148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c4e4e"/>
                </a:solidFill>
                <a:effectLst/>
                <a:uFillTx/>
                <a:latin typeface="Open Sans"/>
              </a:rPr>
              <a:t>PODA INFACTIBLE</a:t>
            </a:r>
            <a:endParaRPr lang="en-US" sz="2200" b="1" u="none" strike="noStrike">
              <a:solidFill>
                <a:srgbClr val="8c4e4e"/>
              </a:solidFill>
              <a:effectLst/>
              <a:uFillTx/>
              <a:latin typeface="Open Sans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6357600" y="2566800"/>
            <a:ext cx="514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4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La relajación lineal no tiene solución.</a:t>
            </a:r>
            <a:endParaRPr lang="en-US" sz="14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76" name=""/>
          <p:cNvSpPr/>
          <p:nvPr/>
        </p:nvSpPr>
        <p:spPr>
          <a:xfrm>
            <a:off x="6228000" y="3024000"/>
            <a:ext cx="5382000" cy="75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6228000" y="3024000"/>
            <a:ext cx="25200" cy="756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6357600" y="3117600"/>
            <a:ext cx="5148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PODA POR COTA</a:t>
            </a:r>
            <a:endParaRPr lang="en-US" sz="22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6357600" y="3376800"/>
            <a:ext cx="514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4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En minimización, LB ≥ UB: no mejora al incumbente.</a:t>
            </a:r>
            <a:endParaRPr lang="en-US" sz="14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80" name=""/>
          <p:cNvSpPr/>
          <p:nvPr/>
        </p:nvSpPr>
        <p:spPr>
          <a:xfrm>
            <a:off x="6228000" y="3834000"/>
            <a:ext cx="5382000" cy="75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6228000" y="3834000"/>
            <a:ext cx="25200" cy="7560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6357600" y="3927600"/>
            <a:ext cx="5148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CIERRE INTEGRAL</a:t>
            </a:r>
            <a:endParaRPr lang="en-US" sz="22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6357600" y="4186800"/>
            <a:ext cx="514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Si una solución entera mejora, actualiza el incumbente y UB.</a:t>
            </a:r>
            <a:endParaRPr lang="en-US" sz="13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84" name=""/>
          <p:cNvSpPr/>
          <p:nvPr/>
        </p:nvSpPr>
        <p:spPr>
          <a:xfrm>
            <a:off x="6228000" y="4716000"/>
            <a:ext cx="5382000" cy="594000"/>
          </a:xfrm>
          <a:prstGeom prst="roundRect">
            <a:avLst/>
          </a:prstGeom>
          <a:solidFill>
            <a:srgbClr val="e5eaee"/>
          </a:solidFill>
          <a:ln w="0">
            <a:solidFill>
              <a:srgbClr val="e5eaee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6390000" y="4816800"/>
            <a:ext cx="50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7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HiGHS: 1 nodo · Chuffed: 225 nodos</a:t>
            </a:r>
            <a:endParaRPr lang="en-US" sz="17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6390000" y="5040000"/>
            <a:ext cx="50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3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Misma instancia; estrategias distintas</a:t>
            </a:r>
            <a:endParaRPr lang="en-US" sz="13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13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Estiven Andres Martinez Granados  ·  9:00–10:15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92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4 · PRUEBAS Y CONCLUSIONES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Prueba 1 · ejemplo del enunciado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Cargar MPL · generar DZN · resolver con HiGHS · revisar 7 verificaciones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497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450000" y="1314000"/>
            <a:ext cx="3168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4f7392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93200" y="1351800"/>
            <a:ext cx="30816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INICIAL  [12, 4, 0, 4, 0]</a:t>
            </a:r>
            <a:endParaRPr lang="en-US" sz="13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500" name=""/>
          <p:cNvSpPr/>
          <p:nvPr/>
        </p:nvSpPr>
        <p:spPr>
          <a:xfrm>
            <a:off x="3780000" y="1422000"/>
            <a:ext cx="936000" cy="0"/>
          </a:xfrm>
          <a:prstGeom prst="line">
            <a:avLst/>
          </a:prstGeom>
          <a:ln w="32400">
            <a:solidFill>
              <a:srgbClr val="856a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4896000" y="1314000"/>
            <a:ext cx="3528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47705d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4939200" y="1351800"/>
            <a:ext cx="34416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FINAL  [18, 2, 0, 0, 0]</a:t>
            </a:r>
            <a:endParaRPr lang="en-US" sz="13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800000" y="1908000"/>
            <a:ext cx="8460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2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4× (2→1)  ·  2× (4→1)  ·  2× (4→2)</a:t>
            </a:r>
            <a:endParaRPr lang="en-US" sz="22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04" name=""/>
          <p:cNvSpPr/>
          <p:nvPr/>
        </p:nvSpPr>
        <p:spPr>
          <a:xfrm>
            <a:off x="450000" y="2484000"/>
            <a:ext cx="2628000" cy="66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486000" y="2548800"/>
            <a:ext cx="2556000" cy="5018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6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19.2 / 20</a:t>
            </a:r>
            <a:endParaRPr lang="en-US" sz="26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486000" y="2905200"/>
            <a:ext cx="255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3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costo</a:t>
            </a:r>
            <a:endParaRPr lang="en-US" sz="13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07" name=""/>
          <p:cNvSpPr/>
          <p:nvPr/>
        </p:nvSpPr>
        <p:spPr>
          <a:xfrm>
            <a:off x="3294000" y="2484000"/>
            <a:ext cx="2628000" cy="66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3330000" y="2548800"/>
            <a:ext cx="2556000" cy="5018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6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14 / 18</a:t>
            </a:r>
            <a:endParaRPr lang="en-US" sz="26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3330000" y="2905200"/>
            <a:ext cx="255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3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movimientos</a:t>
            </a:r>
            <a:endParaRPr lang="en-US" sz="13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10" name=""/>
          <p:cNvSpPr/>
          <p:nvPr/>
        </p:nvSpPr>
        <p:spPr>
          <a:xfrm>
            <a:off x="6138000" y="2484000"/>
            <a:ext cx="2628000" cy="66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6174000" y="2548800"/>
            <a:ext cx="2556000" cy="5018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6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0</a:t>
            </a:r>
            <a:endParaRPr lang="en-US" sz="26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6174000" y="2905200"/>
            <a:ext cx="255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3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mediana</a:t>
            </a:r>
            <a:endParaRPr lang="en-US" sz="13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13" name=""/>
          <p:cNvSpPr/>
          <p:nvPr/>
        </p:nvSpPr>
        <p:spPr>
          <a:xfrm>
            <a:off x="8982000" y="2484000"/>
            <a:ext cx="2628000" cy="66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9018000" y="2548800"/>
            <a:ext cx="2556000" cy="5018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6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0.5</a:t>
            </a:r>
            <a:endParaRPr lang="en-US" sz="26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9018000" y="2905200"/>
            <a:ext cx="255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3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polarización</a:t>
            </a:r>
            <a:endParaRPr lang="en-US" sz="13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16" name=""/>
          <p:cNvSpPr/>
          <p:nvPr/>
        </p:nvSpPr>
        <p:spPr>
          <a:xfrm>
            <a:off x="450000" y="3348000"/>
            <a:ext cx="5364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450000" y="3348000"/>
            <a:ext cx="25200" cy="1296000"/>
          </a:xfrm>
          <a:prstGeom prst="rect">
            <a:avLst/>
          </a:prstGeom>
          <a:solidFill>
            <a:srgbClr val="2b5f7a"/>
          </a:solidFill>
          <a:ln w="0">
            <a:solidFill>
              <a:srgbClr val="2b5f7a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579600" y="3441600"/>
            <a:ext cx="5130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COMPROBACIÓN</a:t>
            </a:r>
            <a:endParaRPr lang="en-US" sz="22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579600" y="3700800"/>
            <a:ext cx="5130000" cy="7059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Costo: 4.8 + 9.6 + 4.8 = 19.2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Movs.: 4 + 6 + 4 = 14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20" name=""/>
          <p:cNvSpPr/>
          <p:nvPr/>
        </p:nvSpPr>
        <p:spPr>
          <a:xfrm>
            <a:off x="6084000" y="3348000"/>
            <a:ext cx="5526000" cy="1296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6084000" y="3348000"/>
            <a:ext cx="25200" cy="12960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6213600" y="3441600"/>
            <a:ext cx="5292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MEJORA CERTIFICADA</a:t>
            </a:r>
            <a:endParaRPr lang="en-US" sz="22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6213600" y="3700800"/>
            <a:ext cx="5292000" cy="7059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Polarización 4 → 0.5  (−87.5 %)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19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447 distribuciones factibles enumeradas</a:t>
            </a:r>
            <a:endParaRPr lang="en-US" sz="19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24" name=""/>
          <p:cNvSpPr/>
          <p:nvPr/>
        </p:nvSpPr>
        <p:spPr>
          <a:xfrm>
            <a:off x="2052000" y="5004000"/>
            <a:ext cx="8064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47705d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2095200" y="5041800"/>
            <a:ext cx="79776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DOMINIO · BALANCE · PRESUPUESTO · maxM · MEDIANA</a:t>
            </a:r>
            <a:endParaRPr lang="en-US" sz="13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14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Estiven Andres Martinez Granados  ·  10:15–11:05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31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4 · PRUEBAS Y CONCLUSIONES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Prueba 2 · consenso alcanzable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Tres personas recorren dos posiciones y consumen todo maxM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36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450000" y="1314000"/>
            <a:ext cx="2952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4f7392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493200" y="1351800"/>
            <a:ext cx="28656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INICIAL  [7, 0, 3, 0]</a:t>
            </a:r>
            <a:endParaRPr lang="en-US" sz="13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539" name=""/>
          <p:cNvSpPr/>
          <p:nvPr/>
        </p:nvSpPr>
        <p:spPr>
          <a:xfrm>
            <a:off x="3636000" y="1422000"/>
            <a:ext cx="1008000" cy="0"/>
          </a:xfrm>
          <a:prstGeom prst="line">
            <a:avLst/>
          </a:prstGeom>
          <a:ln w="32400">
            <a:solidFill>
              <a:srgbClr val="856a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6200" rIns="106200" tIns="-61200" bIns="-612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4860000" y="1314000"/>
            <a:ext cx="3240000" cy="223200"/>
          </a:xfrm>
          <a:prstGeom prst="roundRect">
            <a:avLst/>
          </a:prstGeom>
          <a:solidFill>
            <a:srgbClr val="fafaf7"/>
          </a:solidFill>
          <a:ln w="10800">
            <a:solidFill>
              <a:srgbClr val="47705d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4903200" y="1351800"/>
            <a:ext cx="31536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t">
            <a:spAutoFit/>
          </a:bodyPr>
          <a:p>
            <a:pPr algn="ctr"/>
            <a:r>
              <a:rPr lang="en-US" sz="13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FINAL  [10, 0, 0, 0]</a:t>
            </a:r>
            <a:endParaRPr lang="en-US" sz="13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542" name=""/>
          <p:cNvSpPr/>
          <p:nvPr/>
        </p:nvSpPr>
        <p:spPr>
          <a:xfrm>
            <a:off x="8568000" y="1224000"/>
            <a:ext cx="3042000" cy="414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8676000" y="1328400"/>
            <a:ext cx="2826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8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3 personas · 3 → 1</a:t>
            </a:r>
            <a:endParaRPr lang="en-US" sz="18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44" name=""/>
          <p:cNvSpPr/>
          <p:nvPr/>
        </p:nvSpPr>
        <p:spPr>
          <a:xfrm>
            <a:off x="450000" y="2124000"/>
            <a:ext cx="3528000" cy="1692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450000" y="2124000"/>
            <a:ext cx="25200" cy="1692000"/>
          </a:xfrm>
          <a:prstGeom prst="rect">
            <a:avLst/>
          </a:prstGeom>
          <a:solidFill>
            <a:srgbClr val="856a34"/>
          </a:solidFill>
          <a:ln w="0">
            <a:solidFill>
              <a:srgbClr val="856a34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579600" y="2217600"/>
            <a:ext cx="32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PRESUPUESTO</a:t>
            </a:r>
            <a:endParaRPr lang="en-US" sz="22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579600" y="2476800"/>
            <a:ext cx="3294000" cy="8132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3 × costo efectivo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= 11.7 ≤ 12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48" name=""/>
          <p:cNvSpPr/>
          <p:nvPr/>
        </p:nvSpPr>
        <p:spPr>
          <a:xfrm>
            <a:off x="4320000" y="2124000"/>
            <a:ext cx="3528000" cy="1692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4320000" y="2124000"/>
            <a:ext cx="25200" cy="1692000"/>
          </a:xfrm>
          <a:prstGeom prst="rect">
            <a:avLst/>
          </a:prstGeom>
          <a:solidFill>
            <a:srgbClr val="4f7392"/>
          </a:solidFill>
          <a:ln w="0">
            <a:solidFill>
              <a:srgbClr val="4f7392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4449600" y="2217600"/>
            <a:ext cx="3294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DISTANCIA</a:t>
            </a:r>
            <a:endParaRPr lang="en-US" sz="22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4449600" y="2476800"/>
            <a:ext cx="3294000" cy="8132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3 × |1−3|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= 6 = maxM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52" name=""/>
          <p:cNvSpPr/>
          <p:nvPr/>
        </p:nvSpPr>
        <p:spPr>
          <a:xfrm>
            <a:off x="8190000" y="2124000"/>
            <a:ext cx="3420000" cy="1692000"/>
          </a:xfrm>
          <a:prstGeom prst="roundRect">
            <a:avLst/>
          </a:prstGeom>
          <a:solidFill>
            <a:srgbClr val="f0f3f5"/>
          </a:solidFill>
          <a:ln w="10800">
            <a:solidFill>
              <a:srgbClr val="cbd3d9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8190000" y="2124000"/>
            <a:ext cx="25200" cy="16920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8319600" y="2217600"/>
            <a:ext cx="3186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OBJETIVO</a:t>
            </a:r>
            <a:endParaRPr lang="en-US" sz="22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8319600" y="2476800"/>
            <a:ext cx="3186000" cy="81324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10 × |0−0|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  <a:p>
            <a:r>
              <a:rPr lang="en-US" sz="2200" b="0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= 0</a:t>
            </a:r>
            <a:endParaRPr lang="en-US" sz="2200" b="0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56" name=""/>
          <p:cNvSpPr/>
          <p:nvPr/>
        </p:nvSpPr>
        <p:spPr>
          <a:xfrm>
            <a:off x="450000" y="4248000"/>
            <a:ext cx="11160000" cy="864000"/>
          </a:xfrm>
          <a:prstGeom prst="roundRect">
            <a:avLst/>
          </a:prstGeom>
          <a:solidFill>
            <a:srgbClr val="e5eaee"/>
          </a:solidFill>
          <a:ln w="0">
            <a:solidFill>
              <a:srgbClr val="e5eaee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828000" y="4428000"/>
            <a:ext cx="2016000" cy="43200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2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CONSENSO</a:t>
            </a:r>
            <a:endParaRPr lang="en-US" sz="22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2772000" y="4410000"/>
            <a:ext cx="8424000" cy="7059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Es posible solo si una concentración completa respeta ct y maxM simultáneamente.</a:t>
            </a:r>
            <a:endParaRPr lang="en-US" sz="1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afaf7"/>
          </a:solidFill>
          <a:ln w="0">
            <a:solidFill>
              <a:srgbClr val="fafaf7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0" y="0"/>
            <a:ext cx="12192120" cy="61200"/>
          </a:xfrm>
          <a:prstGeom prst="rect">
            <a:avLst/>
          </a:prstGeom>
          <a:solidFill>
            <a:srgbClr val="243746"/>
          </a:solidFill>
          <a:ln w="0">
            <a:solidFill>
              <a:srgbClr val="243746"/>
            </a:solidFill>
          </a:ln>
        </p:spPr>
        <p:txBody>
          <a:bodyPr lIns="90000" rIns="90000" tIns="16200" bIns="16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0" y="61200"/>
            <a:ext cx="12192120" cy="198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-25200" bIns="-252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424800" y="6537600"/>
            <a:ext cx="32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1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15</a:t>
            </a:r>
            <a:endParaRPr lang="en-US" sz="1200" b="1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792000" y="6537600"/>
            <a:ext cx="432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2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Estiven Andres Martinez Granados  ·  11:05–12:00</a:t>
            </a:r>
            <a:endParaRPr lang="en-US" sz="12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64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9684000" y="6598800"/>
            <a:ext cx="2016000" cy="21600"/>
          </a:xfrm>
          <a:prstGeom prst="rect">
            <a:avLst/>
          </a:prstGeom>
          <a:solidFill>
            <a:srgbClr val="47705d"/>
          </a:solidFill>
          <a:ln w="0">
            <a:solidFill>
              <a:srgbClr val="47705d"/>
            </a:solidFill>
          </a:ln>
        </p:spPr>
        <p:txBody>
          <a:bodyPr lIns="90000" rIns="90000" tIns="-23400" bIns="-234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450000" y="252000"/>
            <a:ext cx="2592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3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4 · PRUEBAS Y CONCLUSIONES</a:t>
            </a:r>
            <a:endParaRPr lang="en-US" sz="13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424800" y="460800"/>
            <a:ext cx="11160000" cy="5536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9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Qué demostramos</a:t>
            </a:r>
            <a:endParaRPr lang="en-US" sz="29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450000" y="871200"/>
            <a:ext cx="1098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Movimientos factibles, auditables y óptimos para las instancias evaluadas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69" name=""/>
          <p:cNvSpPr/>
          <p:nvPr/>
        </p:nvSpPr>
        <p:spPr>
          <a:xfrm>
            <a:off x="450000" y="1162800"/>
            <a:ext cx="11160000" cy="7200"/>
          </a:xfrm>
          <a:prstGeom prst="rect">
            <a:avLst/>
          </a:prstGeom>
          <a:solidFill>
            <a:srgbClr val="cbd3d9"/>
          </a:solidFill>
          <a:ln w="0">
            <a:solidFill>
              <a:srgbClr val="cbd3d9"/>
            </a:solidFill>
          </a:ln>
        </p:spPr>
        <p:txBody>
          <a:bodyPr lIns="90000" rIns="90000" tIns="-37800" bIns="-378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450000" y="1404000"/>
            <a:ext cx="3492000" cy="1188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558000" y="1512000"/>
            <a:ext cx="50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1" u="none" strike="noStrike">
                <a:solidFill>
                  <a:srgbClr val="2b5f7a"/>
                </a:solidFill>
                <a:effectLst/>
                <a:uFillTx/>
                <a:latin typeface="Open Sans"/>
              </a:rPr>
              <a:t>01</a:t>
            </a:r>
            <a:endParaRPr lang="en-US" sz="1700" b="1" u="none" strike="noStrike">
              <a:solidFill>
                <a:srgbClr val="2b5f7a"/>
              </a:solidFill>
              <a:effectLst/>
              <a:uFillTx/>
              <a:latin typeface="Open Sans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080000" y="1512000"/>
            <a:ext cx="2736000" cy="396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Modelo exacto</a:t>
            </a:r>
            <a:endParaRPr lang="en-US" sz="20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576000" y="1926000"/>
            <a:ext cx="32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IP/PLE con mediana linealizada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74" name=""/>
          <p:cNvSpPr/>
          <p:nvPr/>
        </p:nvSpPr>
        <p:spPr>
          <a:xfrm>
            <a:off x="4194000" y="1404000"/>
            <a:ext cx="3492000" cy="1188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4302000" y="1512000"/>
            <a:ext cx="50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1" u="none" strike="noStrike">
                <a:solidFill>
                  <a:srgbClr val="856a34"/>
                </a:solidFill>
                <a:effectLst/>
                <a:uFillTx/>
                <a:latin typeface="Open Sans"/>
              </a:rPr>
              <a:t>02</a:t>
            </a:r>
            <a:endParaRPr lang="en-US" sz="1700" b="1" u="none" strike="noStrike">
              <a:solidFill>
                <a:srgbClr val="856a34"/>
              </a:solidFill>
              <a:effectLst/>
              <a:uFillTx/>
              <a:latin typeface="Open Sans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4824000" y="1512000"/>
            <a:ext cx="2736000" cy="396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Factibilidad</a:t>
            </a:r>
            <a:endParaRPr lang="en-US" sz="20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4320000" y="1926000"/>
            <a:ext cx="324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Población, ct y maxM separados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78" name=""/>
          <p:cNvSpPr/>
          <p:nvPr/>
        </p:nvSpPr>
        <p:spPr>
          <a:xfrm>
            <a:off x="7938000" y="1404000"/>
            <a:ext cx="3492000" cy="1188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8046000" y="1512000"/>
            <a:ext cx="50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1" u="none" strike="noStrike">
                <a:solidFill>
                  <a:srgbClr val="4f7392"/>
                </a:solidFill>
                <a:effectLst/>
                <a:uFillTx/>
                <a:latin typeface="Open Sans"/>
              </a:rPr>
              <a:t>03</a:t>
            </a:r>
            <a:endParaRPr lang="en-US" sz="1700" b="1" u="none" strike="noStrike">
              <a:solidFill>
                <a:srgbClr val="4f7392"/>
              </a:solidFill>
              <a:effectLst/>
              <a:uFillTx/>
              <a:latin typeface="Open Sans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8568000" y="1512000"/>
            <a:ext cx="2736000" cy="396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Precisión</a:t>
            </a:r>
            <a:endParaRPr lang="en-US" sz="20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8064000" y="1926000"/>
            <a:ext cx="3240000" cy="60228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Escalamiento entero de decimales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82" name=""/>
          <p:cNvSpPr/>
          <p:nvPr/>
        </p:nvSpPr>
        <p:spPr>
          <a:xfrm>
            <a:off x="450000" y="2808000"/>
            <a:ext cx="5382000" cy="1188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558000" y="2916000"/>
            <a:ext cx="50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04</a:t>
            </a:r>
            <a:endParaRPr lang="en-US" sz="17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080000" y="2916000"/>
            <a:ext cx="4626000" cy="396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Evidencia</a:t>
            </a:r>
            <a:endParaRPr lang="en-US" sz="20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576000" y="3330000"/>
            <a:ext cx="513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30/30 entradas verificadas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86" name=""/>
          <p:cNvSpPr/>
          <p:nvPr/>
        </p:nvSpPr>
        <p:spPr>
          <a:xfrm>
            <a:off x="6048000" y="2808000"/>
            <a:ext cx="5382000" cy="1188000"/>
          </a:xfrm>
          <a:prstGeom prst="roundRect">
            <a:avLst/>
          </a:prstGeom>
          <a:solidFill>
            <a:srgbClr val="f0f3f5"/>
          </a:solidFill>
          <a:ln w="0">
            <a:solidFill>
              <a:srgbClr val="f0f3f5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6156000" y="2916000"/>
            <a:ext cx="504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1700" b="1" u="none" strike="noStrike">
                <a:solidFill>
                  <a:srgbClr val="8c4e4e"/>
                </a:solidFill>
                <a:effectLst/>
                <a:uFillTx/>
                <a:latin typeface="Open Sans"/>
              </a:rPr>
              <a:t>05</a:t>
            </a:r>
            <a:endParaRPr lang="en-US" sz="1700" b="1" u="none" strike="noStrike">
              <a:solidFill>
                <a:srgbClr val="8c4e4e"/>
              </a:solidFill>
              <a:effectLst/>
              <a:uFillTx/>
              <a:latin typeface="Open Sans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6678000" y="2916000"/>
            <a:ext cx="4626000" cy="396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000" b="1" u="none" strike="noStrike">
                <a:solidFill>
                  <a:srgbClr val="243746"/>
                </a:solidFill>
                <a:effectLst/>
                <a:uFillTx/>
                <a:latin typeface="Open Sans"/>
              </a:rPr>
              <a:t>Límite</a:t>
            </a:r>
            <a:endParaRPr lang="en-US" sz="2000" b="1" u="none" strike="noStrike">
              <a:solidFill>
                <a:srgbClr val="243746"/>
              </a:solidFill>
              <a:effectLst/>
              <a:uFillTx/>
              <a:latin typeface="Open Sans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6174000" y="3330000"/>
            <a:ext cx="5130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600" b="0" u="none" strike="noStrike">
                <a:solidFill>
                  <a:srgbClr val="68747d"/>
                </a:solidFill>
                <a:effectLst/>
                <a:uFillTx/>
                <a:latin typeface="Open Sans"/>
              </a:rPr>
              <a:t>Crecimiento cuadrático en m</a:t>
            </a:r>
            <a:endParaRPr lang="en-US" sz="1600" b="0" u="none" strike="noStrike">
              <a:solidFill>
                <a:srgbClr val="68747d"/>
              </a:solidFill>
              <a:effectLst/>
              <a:uFillTx/>
              <a:latin typeface="Open Sans"/>
            </a:endParaRPr>
          </a:p>
        </p:txBody>
      </p:sp>
      <p:sp>
        <p:nvSpPr>
          <p:cNvPr id="590" name=""/>
          <p:cNvSpPr/>
          <p:nvPr/>
        </p:nvSpPr>
        <p:spPr>
          <a:xfrm>
            <a:off x="450000" y="4428000"/>
            <a:ext cx="10980000" cy="828000"/>
          </a:xfrm>
          <a:prstGeom prst="roundRect">
            <a:avLst/>
          </a:prstGeom>
          <a:solidFill>
            <a:srgbClr val="29485c"/>
          </a:solidFill>
          <a:ln w="0">
            <a:solidFill>
              <a:srgbClr val="29485c"/>
            </a:solidFill>
          </a:ln>
        </p:spPr>
        <p:txBody>
          <a:bodyPr lIns="90000" rIns="90000" tIns="45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666000" y="4572000"/>
            <a:ext cx="1620000" cy="5169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MinPol</a:t>
            </a:r>
            <a:endParaRPr lang="en-US" sz="27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2196000" y="4590000"/>
            <a:ext cx="8748000" cy="38772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Open Sans"/>
              </a:rPr>
              <a:t>Brecha 0 %  ·  verificación independiente  ·  resultados reproducibles</a:t>
            </a:r>
            <a:endParaRPr lang="en-US" sz="1900" b="1" u="none" strike="noStrike">
              <a:solidFill>
                <a:srgbClr val="ffffff"/>
              </a:solidFill>
              <a:effectLst/>
              <a:uFillTx/>
              <a:latin typeface="Open Sans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450000" y="5400000"/>
            <a:ext cx="10980000" cy="448560"/>
          </a:xfrm>
          <a:prstGeom prst="rect">
            <a:avLst/>
          </a:prstGeom>
          <a:noFill/>
          <a:ln w="0">
            <a:noFill/>
          </a:ln>
        </p:spPr>
        <p:txBody>
          <a:bodyPr lIns="25200" rIns="25200" tIns="25200" bIns="25200" anchor="t">
            <a:spAutoFit/>
          </a:bodyPr>
          <a:p>
            <a:pPr algn="ctr"/>
            <a:r>
              <a:rPr lang="en-US" sz="2300" b="1" u="none" strike="noStrike">
                <a:solidFill>
                  <a:srgbClr val="47705d"/>
                </a:solidFill>
                <a:effectLst/>
                <a:uFillTx/>
                <a:latin typeface="Open Sans"/>
              </a:rPr>
              <a:t>Muchas gracias</a:t>
            </a:r>
            <a:endParaRPr lang="en-US" sz="2300" b="1" u="none" strike="noStrike">
              <a:solidFill>
                <a:srgbClr val="47705d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2026-07-21T20:37:11Z</dcterms:created>
  <dc:creator/>
  <dc:description/>
  <dc:language>en-US</dc:language>
  <cp:lastModifiedBy/>
  <dcterms:modified xsi:type="dcterms:W3CDTF">2026-07-21T20:37:17Z</dcterms:modified>
  <cp:revision>1</cp:revision>
  <dc:subject/>
  <dc:title/>
</cp:coreProperties>
</file>